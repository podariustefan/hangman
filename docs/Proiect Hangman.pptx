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59" r:id="rId6"/>
    <p:sldId id="261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94" autoAdjust="0"/>
    <p:restoredTop sz="94660"/>
  </p:normalViewPr>
  <p:slideViewPr>
    <p:cSldViewPr snapToGrid="0">
      <p:cViewPr varScale="1">
        <p:scale>
          <a:sx n="64" d="100"/>
          <a:sy n="64" d="100"/>
        </p:scale>
        <p:origin x="7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DC5988-FA9E-4867-8830-B610C716337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1CB5D9-3228-4CFA-9DF7-B452EFB76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9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1CB5D9-3228-4CFA-9DF7-B452EFB768C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778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E5259-6167-F6D5-414E-270E8E2B7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7F451A-1DAC-4818-C737-652BD6863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40F7E-39DA-6210-EAF8-DC8ED5F65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633AD-99F3-A1D3-2BC4-92D984558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1CB5D9-3228-4CFA-9DF7-B452EFB768C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67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7D2EF-C759-D5AC-5D53-563A40BF5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B10E67-3229-0508-D8FB-4DFA242E4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F55A1A-FB48-E072-CC3C-A3B51E359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179C0-2124-7F13-2B1D-5262170FE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1CB5D9-3228-4CFA-9DF7-B452EFB768C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878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26F87-2017-9B9F-86BE-CEE53C277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0C8B36-7F89-4824-D134-D3265D462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77D89F-2199-44EC-DD02-CDB355A28B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00EB8-FBBF-C159-BE30-F298410DA7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1CB5D9-3228-4CFA-9DF7-B452EFB768C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14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4B316-67C6-C832-BAA6-3D5AB4482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99A6A-9401-8417-208F-E0A8F0897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DE058E-CE73-FF54-90F9-27D2F32BF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14E91-AAC0-0193-2EAD-364F46AD39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1CB5D9-3228-4CFA-9DF7-B452EFB768C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48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41315-624A-77F4-032D-282A71261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314856-3E6E-2AD8-3C07-86C0C3217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F464C4-D6C9-E3AD-E478-03A3ED095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DE4B1-E550-FAB8-44EE-54B064397B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1CB5D9-3228-4CFA-9DF7-B452EFB768C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309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E2285-D8CC-D8B4-D036-9BB225325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7AB1ED-E52A-877A-07EF-0DFF91D16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E6716-31E6-BC5D-970B-CB9300FF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9A034-64EF-10EB-882A-BD8DE90DD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1CB5D9-3228-4CFA-9DF7-B452EFB768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788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16E0D-555C-6AE2-D990-057AFAD93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60852-A816-D2EC-6793-51E2751C1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CB951-5037-F734-5C23-65F3B1294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43316-3A1C-4F0B-A780-0DC53050C8F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851F5-4FB7-9AA7-2BA3-AF51F3F0B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AD86C-DFC6-5B4B-A711-C1CC6F87E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70D03-8585-4ACC-911E-F20955C11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704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B2EC2-469C-4FA3-FE3A-9DDECC8D7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FBCAE-0C89-DC4C-7044-50688FCDC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9BBE2-4985-8B63-9669-A67B2054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43316-3A1C-4F0B-A780-0DC53050C8F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D62A6-677D-BA62-1817-4092B45AA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7DE06-6680-ED8C-7AE6-896C6FB99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70D03-8585-4ACC-911E-F20955C11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526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665EE-CEF0-6087-896E-7CEF7E580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1BE12-E107-5BA6-0865-B7ADE94D8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06C72-B582-8D68-F57E-D65CECFCB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43316-3A1C-4F0B-A780-0DC53050C8F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C2718-A8D2-3487-FA93-A7B0A04F5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BCC12-7AF8-2106-C395-BA6003CC6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70D03-8585-4ACC-911E-F20955C11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070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7A23B-F159-6E35-236E-569B194FF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0450B-B819-EA0E-C298-B5656290C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42F9A-8286-ED25-C429-6FF6D2B39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6177E-6BDD-6F85-2623-22F01EDFD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43316-3A1C-4F0B-A780-0DC53050C8F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85260-8FDE-F877-EB09-9A682CDD4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472D7-CA47-DA96-5FA9-EA1275611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70D03-8585-4ACC-911E-F20955C11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27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7FA7-0079-F81D-8CA6-1630B70CE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001C7-D6E0-7726-075B-CE32E99CD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60A63-B00E-B9A1-3565-E12852BB4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4F2201-51B5-4E93-0998-B0E607945B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B00671-940B-C1E3-1632-A260FCD0D4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559596-8720-AD79-FFCB-4F8E18D09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43316-3A1C-4F0B-A780-0DC53050C8F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0D47FB-0FDD-07CF-B93A-CD8AC593B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0991DE-0BD8-FB17-AB4C-702D39BE3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70D03-8585-4ACC-911E-F20955C11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98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97FC8-7BBC-F7EF-4925-14F3EA083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3F06E8-D163-A2EB-5674-9DA1BAE72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43316-3A1C-4F0B-A780-0DC53050C8F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BE2E7-E9AF-4574-3530-7A24371F7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3D47F-8EED-955F-A6C0-483747AC4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70D03-8585-4ACC-911E-F20955C11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7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32DC8B-9886-5BDB-5CBB-4C9A9B84B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43316-3A1C-4F0B-A780-0DC53050C8F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A93A07-D1EF-5A25-582F-C7EA2141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D2E70-4E1C-430A-3AD1-515D3EF57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70D03-8585-4ACC-911E-F20955C11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928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05BCF-B35C-B653-0D66-777F930EF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B7CC0-8DCF-80FB-0538-A3450CFCB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2CCFF9-B5D7-FC3F-1F26-A3C1651E5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F05953-FB1B-BA02-FFF9-D8FD24D33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43316-3A1C-4F0B-A780-0DC53050C8F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915546-82CD-70AF-42AC-5BC02AC66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22E07-AF84-B8EF-E43B-5D7D3B980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70D03-8585-4ACC-911E-F20955C11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97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A098E-F21C-3A9F-664D-CB4981065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76E26F-FA3C-E9B5-6332-2D59C71E60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A47BDE-14A0-D22B-5CD3-2A0D67210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F07D9-F92C-24C4-793C-8D7D70622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43316-3A1C-4F0B-A780-0DC53050C8F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59794-FB2D-7D2C-D2BE-92D722A38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00B2AA-399A-EFF4-E867-38A551C35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70D03-8585-4ACC-911E-F20955C11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153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E81CA-8988-ABE1-5263-A597AD7D8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006831-A054-CDA4-F482-89381B1D5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78BC9-3384-714D-8762-81F0EB646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43316-3A1C-4F0B-A780-0DC53050C8F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30115-A5B2-197F-17A6-2238145F5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B94E1-325E-CC0D-BE91-ED3046D79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70D03-8585-4ACC-911E-F20955C11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788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EC978-9B55-98F3-7341-85C9B0112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AC4C7-D32C-3166-F54E-7EEF1EEA7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49775-1D2D-4B66-BB1D-BA35CF51B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43316-3A1C-4F0B-A780-0DC53050C8F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D21E7-05F4-5FA3-5664-E811740B1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C1B4A-6551-D293-8635-E81CD14D7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70D03-8585-4ACC-911E-F20955C11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93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A52DBB-F2DA-1440-E739-E0414462E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DA596-6809-85F2-0F1D-D1303764F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2FC24-19E8-3FDE-1ADC-A7E04FFA52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43316-3A1C-4F0B-A780-0DC53050C8F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EFE23-27F2-D5B6-078E-8296F5276F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6278B-AFDC-05D9-F7E1-0F7AE0179E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070D03-8585-4ACC-911E-F20955C11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828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E0211-BF4F-0DE9-E7C6-FB6E6B39FD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Proiect</a:t>
            </a:r>
            <a:r>
              <a:rPr lang="en-US" dirty="0"/>
              <a:t> Hangman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111CF1-42F3-267C-56A2-79E707B656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Realizat</a:t>
            </a:r>
            <a:r>
              <a:rPr lang="en-US" dirty="0"/>
              <a:t> de Podariu </a:t>
            </a:r>
            <a:r>
              <a:rPr lang="ro-RO" dirty="0"/>
              <a:t>Ștefan-Antoniu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FA29A1-C734-255D-5FD0-D2E0FFE7DA34}"/>
              </a:ext>
            </a:extLst>
          </p:cNvPr>
          <p:cNvSpPr/>
          <p:nvPr/>
        </p:nvSpPr>
        <p:spPr>
          <a:xfrm>
            <a:off x="0" y="1"/>
            <a:ext cx="809469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053E1880-5997-9B13-56C3-1D919FA60748}"/>
              </a:ext>
            </a:extLst>
          </p:cNvPr>
          <p:cNvSpPr/>
          <p:nvPr/>
        </p:nvSpPr>
        <p:spPr>
          <a:xfrm>
            <a:off x="640135" y="142407"/>
            <a:ext cx="11257613" cy="6573186"/>
          </a:xfrm>
          <a:prstGeom prst="flowChartProcess">
            <a:avLst/>
          </a:prstGeom>
          <a:noFill/>
          <a:ln w="762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0134FFE-D1E2-E200-B7B0-688CCDA11207}"/>
              </a:ext>
            </a:extLst>
          </p:cNvPr>
          <p:cNvGrpSpPr/>
          <p:nvPr/>
        </p:nvGrpSpPr>
        <p:grpSpPr>
          <a:xfrm>
            <a:off x="9545306" y="969963"/>
            <a:ext cx="2248519" cy="4287837"/>
            <a:chOff x="8422601" y="1112043"/>
            <a:chExt cx="2248519" cy="4287837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CBBA561-D39B-0385-BC36-3B88E49F469D}"/>
                </a:ext>
              </a:extLst>
            </p:cNvPr>
            <p:cNvSpPr/>
            <p:nvPr/>
          </p:nvSpPr>
          <p:spPr>
            <a:xfrm rot="1179451">
              <a:off x="9150137" y="2800589"/>
              <a:ext cx="550486" cy="3792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53D332C-2DED-228A-3F3D-4E159CDB121C}"/>
                </a:ext>
              </a:extLst>
            </p:cNvPr>
            <p:cNvGrpSpPr/>
            <p:nvPr/>
          </p:nvGrpSpPr>
          <p:grpSpPr>
            <a:xfrm>
              <a:off x="8422601" y="1112043"/>
              <a:ext cx="2248519" cy="4287837"/>
              <a:chOff x="9542175" y="969963"/>
              <a:chExt cx="2248519" cy="4287837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E4596619-054E-0BE5-ABB2-5EF364FF52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93114" y="2807559"/>
                <a:ext cx="0" cy="1449648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54E4C5DD-C184-8A90-6F26-369F45DB87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99607" y="969963"/>
                <a:ext cx="0" cy="1346200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" name="Picture 9" descr="A blue face with a sad face&#10;&#10;AI-generated content may be incorrect.">
                <a:extLst>
                  <a:ext uri="{FF2B5EF4-FFF2-40B4-BE49-F238E27FC236}">
                    <a16:creationId xmlns:a16="http://schemas.microsoft.com/office/drawing/2014/main" id="{FBFDE7D3-2C31-F50B-C81C-D8AB526010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42175" y="1376809"/>
                <a:ext cx="2248519" cy="2248519"/>
              </a:xfrm>
              <a:prstGeom prst="rect">
                <a:avLst/>
              </a:prstGeom>
              <a:scene3d>
                <a:camera prst="orthographicFront">
                  <a:rot lat="2699983" lon="0" rev="19499999"/>
                </a:camera>
                <a:lightRig rig="threePt" dir="t"/>
              </a:scene3d>
            </p:spPr>
          </p:pic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A2566EA-0475-C250-C5C0-78F6545330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18229" y="4242216"/>
                <a:ext cx="164892" cy="101558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2A6408B-F980-AAEE-07E4-019506BC4F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503108" y="4242216"/>
                <a:ext cx="164892" cy="101558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453A978-9CD4-761C-16A8-DB7A17AAD7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4355" y="3305980"/>
                <a:ext cx="81199" cy="638697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4B685302-3988-5107-6043-0A3A49E9FE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93114" y="3323327"/>
                <a:ext cx="282940" cy="658083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493F9F2-75F5-4302-19A1-D8B8B1A87A67}"/>
              </a:ext>
            </a:extLst>
          </p:cNvPr>
          <p:cNvCxnSpPr>
            <a:cxnSpLocks/>
          </p:cNvCxnSpPr>
          <p:nvPr/>
        </p:nvCxnSpPr>
        <p:spPr>
          <a:xfrm>
            <a:off x="10600544" y="142407"/>
            <a:ext cx="0" cy="82755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4949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2345E-553A-FBD7-0E22-D7B9D593E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1D0263-53B6-6659-AE33-8A080585340C}"/>
              </a:ext>
            </a:extLst>
          </p:cNvPr>
          <p:cNvSpPr/>
          <p:nvPr/>
        </p:nvSpPr>
        <p:spPr>
          <a:xfrm>
            <a:off x="0" y="1"/>
            <a:ext cx="809469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840D7540-02F3-FB85-91D4-FEFB86D620B7}"/>
              </a:ext>
            </a:extLst>
          </p:cNvPr>
          <p:cNvSpPr/>
          <p:nvPr/>
        </p:nvSpPr>
        <p:spPr>
          <a:xfrm>
            <a:off x="674003" y="142407"/>
            <a:ext cx="11257613" cy="6573186"/>
          </a:xfrm>
          <a:prstGeom prst="flowChartProcess">
            <a:avLst/>
          </a:prstGeom>
          <a:noFill/>
          <a:ln w="762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595B02C-0042-B222-36BC-BAB1731D34E8}"/>
              </a:ext>
            </a:extLst>
          </p:cNvPr>
          <p:cNvGrpSpPr/>
          <p:nvPr/>
        </p:nvGrpSpPr>
        <p:grpSpPr>
          <a:xfrm rot="1342539">
            <a:off x="9430564" y="11283089"/>
            <a:ext cx="2248519" cy="4287837"/>
            <a:chOff x="8301120" y="1112043"/>
            <a:chExt cx="2248519" cy="4287837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2F89B02-4074-DD73-FBF2-03D80CCC747B}"/>
                </a:ext>
              </a:extLst>
            </p:cNvPr>
            <p:cNvSpPr/>
            <p:nvPr/>
          </p:nvSpPr>
          <p:spPr>
            <a:xfrm>
              <a:off x="9196466" y="2831575"/>
              <a:ext cx="457825" cy="3792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33FDE81-C1F2-2F3E-8313-082E68B9BC99}"/>
                </a:ext>
              </a:extLst>
            </p:cNvPr>
            <p:cNvGrpSpPr/>
            <p:nvPr/>
          </p:nvGrpSpPr>
          <p:grpSpPr>
            <a:xfrm>
              <a:off x="8301120" y="1112043"/>
              <a:ext cx="2248519" cy="4287837"/>
              <a:chOff x="9420694" y="969963"/>
              <a:chExt cx="2248519" cy="4287837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99FCBD27-66CB-CE8C-A699-C360444E35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93114" y="2807559"/>
                <a:ext cx="0" cy="1449648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CE965EA7-4A0F-01A3-5F8F-C0C67DFD5D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99607" y="969963"/>
                <a:ext cx="0" cy="1346200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" name="Picture 9" descr="A blue face with a sad face&#10;&#10;AI-generated content may be incorrect.">
                <a:extLst>
                  <a:ext uri="{FF2B5EF4-FFF2-40B4-BE49-F238E27FC236}">
                    <a16:creationId xmlns:a16="http://schemas.microsoft.com/office/drawing/2014/main" id="{E2B0B8D8-697E-AFC0-0BCE-3950F3DF5B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420694" y="1300795"/>
                <a:ext cx="2248519" cy="2248519"/>
              </a:xfrm>
              <a:prstGeom prst="rect">
                <a:avLst/>
              </a:prstGeom>
              <a:scene3d>
                <a:camera prst="orthographicFront">
                  <a:rot lat="2699983" lon="0" rev="19499999"/>
                </a:camera>
                <a:lightRig rig="threePt" dir="t"/>
              </a:scene3d>
            </p:spPr>
          </p:pic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466072-A66D-1FE1-E3FE-3BD9510747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18229" y="4242216"/>
                <a:ext cx="164892" cy="101558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04A1E48A-A9E1-1288-94A4-96A2A56958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503108" y="4242216"/>
                <a:ext cx="164892" cy="101558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90FCEB5B-2ABF-2EAA-99F9-C6D8FC6B9F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4355" y="3305980"/>
                <a:ext cx="81199" cy="638697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B376562-FDCB-DFFC-7A55-3273D052CC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93114" y="3323327"/>
                <a:ext cx="282940" cy="658083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DA626BD-4DA5-F839-1149-A2388D995760}"/>
              </a:ext>
            </a:extLst>
          </p:cNvPr>
          <p:cNvCxnSpPr>
            <a:cxnSpLocks/>
          </p:cNvCxnSpPr>
          <p:nvPr/>
        </p:nvCxnSpPr>
        <p:spPr>
          <a:xfrm>
            <a:off x="10600544" y="142407"/>
            <a:ext cx="0" cy="82755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7468734-FF9D-A69A-7401-3B4D5955AD37}"/>
              </a:ext>
            </a:extLst>
          </p:cNvPr>
          <p:cNvSpPr txBox="1"/>
          <p:nvPr/>
        </p:nvSpPr>
        <p:spPr>
          <a:xfrm>
            <a:off x="508008" y="467884"/>
            <a:ext cx="55879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6600" dirty="0"/>
              <a:t>Utilizare</a:t>
            </a:r>
            <a:endParaRPr lang="en-US" sz="6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2A2657-20A7-F8C1-29F4-C0E646C58A3B}"/>
              </a:ext>
            </a:extLst>
          </p:cNvPr>
          <p:cNvSpPr txBox="1"/>
          <p:nvPr/>
        </p:nvSpPr>
        <p:spPr>
          <a:xfrm>
            <a:off x="1185333" y="1575880"/>
            <a:ext cx="761093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800" dirty="0"/>
              <a:t>Se cer 3 parametri de intrare care trebuie scriși sub </a:t>
            </a:r>
            <a:r>
              <a:rPr lang="en-US" sz="2800" dirty="0" err="1"/>
              <a:t>urm</a:t>
            </a:r>
            <a:r>
              <a:rPr lang="ro-RO" sz="2800" dirty="0"/>
              <a:t>ă</a:t>
            </a:r>
            <a:r>
              <a:rPr lang="en-US" sz="2800" dirty="0" err="1"/>
              <a:t>toarea</a:t>
            </a:r>
            <a:r>
              <a:rPr lang="en-US" sz="2800" dirty="0"/>
              <a:t> form</a:t>
            </a:r>
            <a:r>
              <a:rPr lang="ro-RO" sz="2800" dirty="0"/>
              <a:t>ă</a:t>
            </a:r>
            <a:r>
              <a:rPr lang="en-US" sz="2800" dirty="0"/>
              <a:t>:</a:t>
            </a:r>
          </a:p>
          <a:p>
            <a:r>
              <a:rPr lang="en-US" sz="2800" dirty="0"/>
              <a:t>	python [</a:t>
            </a:r>
            <a:r>
              <a:rPr lang="ro-RO" sz="2800" dirty="0"/>
              <a:t>locati_program</a:t>
            </a:r>
            <a:r>
              <a:rPr lang="en-US" sz="2800" dirty="0"/>
              <a:t>]/hangman.py –</a:t>
            </a:r>
            <a:r>
              <a:rPr lang="en-US" sz="2800" dirty="0" err="1"/>
              <a:t>i</a:t>
            </a:r>
            <a:r>
              <a:rPr lang="en-US" sz="2800" dirty="0"/>
              <a:t> “</a:t>
            </a:r>
            <a:r>
              <a:rPr lang="en-US" sz="2800" dirty="0" err="1"/>
              <a:t>cale_catre_fisier_intrare</a:t>
            </a:r>
            <a:r>
              <a:rPr lang="en-US" sz="2800" dirty="0"/>
              <a:t>” –o 	“</a:t>
            </a:r>
            <a:r>
              <a:rPr lang="en-US" sz="2800" dirty="0" err="1"/>
              <a:t>cale_catre_fisier_output</a:t>
            </a:r>
            <a:r>
              <a:rPr lang="en-US" sz="2800" dirty="0"/>
              <a:t>” –d ”</a:t>
            </a:r>
            <a:r>
              <a:rPr lang="en-US" sz="2800" dirty="0" err="1"/>
              <a:t>cale_catre_dictionar</a:t>
            </a:r>
            <a:r>
              <a:rPr lang="en-US" sz="28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7752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25143-4B46-9266-C548-E9F7461B6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64773D-EFE1-F433-3CAD-F4C579485803}"/>
              </a:ext>
            </a:extLst>
          </p:cNvPr>
          <p:cNvSpPr/>
          <p:nvPr/>
        </p:nvSpPr>
        <p:spPr>
          <a:xfrm>
            <a:off x="0" y="1"/>
            <a:ext cx="809469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278198E2-4C1C-CB85-BD63-E2F0E26C9860}"/>
              </a:ext>
            </a:extLst>
          </p:cNvPr>
          <p:cNvSpPr/>
          <p:nvPr/>
        </p:nvSpPr>
        <p:spPr>
          <a:xfrm>
            <a:off x="674003" y="142407"/>
            <a:ext cx="11257613" cy="6573186"/>
          </a:xfrm>
          <a:prstGeom prst="flowChartProcess">
            <a:avLst/>
          </a:prstGeom>
          <a:noFill/>
          <a:ln w="762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A3FF525-EE94-BD4B-3B4F-63626DC47450}"/>
              </a:ext>
            </a:extLst>
          </p:cNvPr>
          <p:cNvCxnSpPr>
            <a:cxnSpLocks/>
          </p:cNvCxnSpPr>
          <p:nvPr/>
        </p:nvCxnSpPr>
        <p:spPr>
          <a:xfrm>
            <a:off x="10600544" y="142407"/>
            <a:ext cx="0" cy="82755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9003DFB-D8CD-F12F-FCD8-BE139D21D21C}"/>
              </a:ext>
            </a:extLst>
          </p:cNvPr>
          <p:cNvSpPr txBox="1"/>
          <p:nvPr/>
        </p:nvSpPr>
        <p:spPr>
          <a:xfrm>
            <a:off x="1364105" y="779489"/>
            <a:ext cx="47318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sz="6600" dirty="0">
                <a:solidFill>
                  <a:prstClr val="black"/>
                </a:solidFill>
                <a:latin typeface="Aptos" panose="02110004020202020204"/>
              </a:rPr>
              <a:t>Structură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E5F001-F6F4-73FC-4A1A-7DB969DA3606}"/>
              </a:ext>
            </a:extLst>
          </p:cNvPr>
          <p:cNvSpPr txBox="1"/>
          <p:nvPr/>
        </p:nvSpPr>
        <p:spPr>
          <a:xfrm>
            <a:off x="2053652" y="2158584"/>
            <a:ext cx="2323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dirty="0">
                <a:latin typeface="Congenial" panose="020F0502020204030204" pitchFamily="2" charset="0"/>
              </a:rPr>
              <a:t>Hangman</a:t>
            </a:r>
            <a:endParaRPr lang="en-US" sz="3200" dirty="0">
              <a:latin typeface="Congenial" panose="020F0502020204030204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ADF80B1-BAFB-9D77-9B08-B96A24D3F4CF}"/>
              </a:ext>
            </a:extLst>
          </p:cNvPr>
          <p:cNvCxnSpPr>
            <a:cxnSpLocks/>
          </p:cNvCxnSpPr>
          <p:nvPr/>
        </p:nvCxnSpPr>
        <p:spPr>
          <a:xfrm>
            <a:off x="2552700" y="2743359"/>
            <a:ext cx="0" cy="2093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2E8D22E-6EB4-673E-AA79-133A353BE6D9}"/>
              </a:ext>
            </a:extLst>
          </p:cNvPr>
          <p:cNvCxnSpPr>
            <a:cxnSpLocks/>
          </p:cNvCxnSpPr>
          <p:nvPr/>
        </p:nvCxnSpPr>
        <p:spPr>
          <a:xfrm flipH="1" flipV="1">
            <a:off x="2548328" y="2943225"/>
            <a:ext cx="356797" cy="95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6108F32-DFFA-F0C7-B741-180DCC9DB123}"/>
              </a:ext>
            </a:extLst>
          </p:cNvPr>
          <p:cNvSpPr txBox="1"/>
          <p:nvPr/>
        </p:nvSpPr>
        <p:spPr>
          <a:xfrm>
            <a:off x="2905125" y="2768084"/>
            <a:ext cx="678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0A4E26D-01DA-ABC0-2EFA-9725FF074822}"/>
              </a:ext>
            </a:extLst>
          </p:cNvPr>
          <p:cNvCxnSpPr>
            <a:cxnSpLocks/>
          </p:cNvCxnSpPr>
          <p:nvPr/>
        </p:nvCxnSpPr>
        <p:spPr>
          <a:xfrm>
            <a:off x="3217490" y="3045083"/>
            <a:ext cx="0" cy="1846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81406E-CB77-4ABA-6241-4258F4C5D68E}"/>
              </a:ext>
            </a:extLst>
          </p:cNvPr>
          <p:cNvCxnSpPr>
            <a:cxnSpLocks/>
          </p:cNvCxnSpPr>
          <p:nvPr/>
        </p:nvCxnSpPr>
        <p:spPr>
          <a:xfrm>
            <a:off x="3215390" y="3229749"/>
            <a:ext cx="2326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E3C9B60-59B6-62D5-2E3E-5A9246F13D14}"/>
              </a:ext>
            </a:extLst>
          </p:cNvPr>
          <p:cNvGrpSpPr/>
          <p:nvPr/>
        </p:nvGrpSpPr>
        <p:grpSpPr>
          <a:xfrm>
            <a:off x="3215390" y="3229749"/>
            <a:ext cx="232660" cy="199251"/>
            <a:chOff x="3215390" y="3229749"/>
            <a:chExt cx="232660" cy="199251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052E15E-57FA-5041-19C5-8C96A7B54F1B}"/>
                </a:ext>
              </a:extLst>
            </p:cNvPr>
            <p:cNvCxnSpPr/>
            <p:nvPr/>
          </p:nvCxnSpPr>
          <p:spPr>
            <a:xfrm>
              <a:off x="3215390" y="3229749"/>
              <a:ext cx="0" cy="19925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CF9C65A-3D0D-CFCF-4B6C-7163E20982F2}"/>
                </a:ext>
              </a:extLst>
            </p:cNvPr>
            <p:cNvCxnSpPr/>
            <p:nvPr/>
          </p:nvCxnSpPr>
          <p:spPr>
            <a:xfrm>
              <a:off x="3215390" y="3429000"/>
              <a:ext cx="23266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85550D9-2750-B90C-B6E5-512DB1A92F78}"/>
              </a:ext>
            </a:extLst>
          </p:cNvPr>
          <p:cNvGrpSpPr/>
          <p:nvPr/>
        </p:nvGrpSpPr>
        <p:grpSpPr>
          <a:xfrm>
            <a:off x="3215390" y="3433397"/>
            <a:ext cx="232660" cy="199251"/>
            <a:chOff x="3215390" y="3229749"/>
            <a:chExt cx="232660" cy="19925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0E94D1C-7D1C-E0D7-6F48-07DD4D883771}"/>
                </a:ext>
              </a:extLst>
            </p:cNvPr>
            <p:cNvCxnSpPr/>
            <p:nvPr/>
          </p:nvCxnSpPr>
          <p:spPr>
            <a:xfrm>
              <a:off x="3215390" y="3229749"/>
              <a:ext cx="0" cy="19925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8B28ABB-F054-666B-5174-1989A9B15B32}"/>
                </a:ext>
              </a:extLst>
            </p:cNvPr>
            <p:cNvCxnSpPr/>
            <p:nvPr/>
          </p:nvCxnSpPr>
          <p:spPr>
            <a:xfrm>
              <a:off x="3215390" y="3429000"/>
              <a:ext cx="23266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852B10E-D252-7AFD-B76F-69225C38A41F}"/>
              </a:ext>
            </a:extLst>
          </p:cNvPr>
          <p:cNvGrpSpPr/>
          <p:nvPr/>
        </p:nvGrpSpPr>
        <p:grpSpPr>
          <a:xfrm>
            <a:off x="3215390" y="3628251"/>
            <a:ext cx="232660" cy="199251"/>
            <a:chOff x="3215390" y="3229749"/>
            <a:chExt cx="232660" cy="199251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CF1401D-7010-EFCF-CBD3-EC96D91438AE}"/>
                </a:ext>
              </a:extLst>
            </p:cNvPr>
            <p:cNvCxnSpPr/>
            <p:nvPr/>
          </p:nvCxnSpPr>
          <p:spPr>
            <a:xfrm>
              <a:off x="3215390" y="3229749"/>
              <a:ext cx="0" cy="19925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66E2796-F028-52BA-764E-8B6D92C85FF4}"/>
                </a:ext>
              </a:extLst>
            </p:cNvPr>
            <p:cNvCxnSpPr/>
            <p:nvPr/>
          </p:nvCxnSpPr>
          <p:spPr>
            <a:xfrm>
              <a:off x="3215390" y="3429000"/>
              <a:ext cx="23266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4730668D-803F-6AE1-B089-0ECB3353C558}"/>
              </a:ext>
            </a:extLst>
          </p:cNvPr>
          <p:cNvSpPr txBox="1"/>
          <p:nvPr/>
        </p:nvSpPr>
        <p:spPr>
          <a:xfrm>
            <a:off x="3389821" y="3089581"/>
            <a:ext cx="1978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cuvinte_de_verificat.txt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008F1EA-A544-8536-549D-ED7D99727887}"/>
              </a:ext>
            </a:extLst>
          </p:cNvPr>
          <p:cNvSpPr txBox="1"/>
          <p:nvPr/>
        </p:nvSpPr>
        <p:spPr>
          <a:xfrm>
            <a:off x="3387721" y="3304241"/>
            <a:ext cx="18051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dictionar_random.txt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807016-02A1-1B2E-7AD7-E465B1AC59DC}"/>
              </a:ext>
            </a:extLst>
          </p:cNvPr>
          <p:cNvSpPr txBox="1"/>
          <p:nvPr/>
        </p:nvSpPr>
        <p:spPr>
          <a:xfrm>
            <a:off x="3387721" y="3495777"/>
            <a:ext cx="18097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dictionar_uniform.txt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527FAAC-0896-A165-682E-D7729FFF664C}"/>
              </a:ext>
            </a:extLst>
          </p:cNvPr>
          <p:cNvSpPr txBox="1"/>
          <p:nvPr/>
        </p:nvSpPr>
        <p:spPr>
          <a:xfrm>
            <a:off x="3387721" y="3691539"/>
            <a:ext cx="16131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dictionar_vechi.txt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DAF6576-B727-AE15-C9B0-EF4546EC2212}"/>
              </a:ext>
            </a:extLst>
          </p:cNvPr>
          <p:cNvCxnSpPr/>
          <p:nvPr/>
        </p:nvCxnSpPr>
        <p:spPr>
          <a:xfrm>
            <a:off x="2552700" y="2952750"/>
            <a:ext cx="0" cy="1104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5521307-55DF-8D74-9E4E-C8B99760F54A}"/>
              </a:ext>
            </a:extLst>
          </p:cNvPr>
          <p:cNvCxnSpPr/>
          <p:nvPr/>
        </p:nvCxnSpPr>
        <p:spPr>
          <a:xfrm>
            <a:off x="2548328" y="4067175"/>
            <a:ext cx="35679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E3CD7A1-9E06-8D6A-9695-840668D64E88}"/>
              </a:ext>
            </a:extLst>
          </p:cNvPr>
          <p:cNvSpPr txBox="1"/>
          <p:nvPr/>
        </p:nvSpPr>
        <p:spPr>
          <a:xfrm>
            <a:off x="2905125" y="3891563"/>
            <a:ext cx="942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results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4FBF5D1-0CD6-5A60-C3EC-35719FF88804}"/>
              </a:ext>
            </a:extLst>
          </p:cNvPr>
          <p:cNvGrpSpPr/>
          <p:nvPr/>
        </p:nvGrpSpPr>
        <p:grpSpPr>
          <a:xfrm>
            <a:off x="3215390" y="4169460"/>
            <a:ext cx="232660" cy="199251"/>
            <a:chOff x="3215390" y="3229749"/>
            <a:chExt cx="232660" cy="199251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94D9B80-FD8C-203B-3FCD-84797AD03C95}"/>
                </a:ext>
              </a:extLst>
            </p:cNvPr>
            <p:cNvCxnSpPr/>
            <p:nvPr/>
          </p:nvCxnSpPr>
          <p:spPr>
            <a:xfrm>
              <a:off x="3215390" y="3229749"/>
              <a:ext cx="0" cy="19925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939E423-E364-BC6F-0B51-18BE8EA2C3E4}"/>
                </a:ext>
              </a:extLst>
            </p:cNvPr>
            <p:cNvCxnSpPr/>
            <p:nvPr/>
          </p:nvCxnSpPr>
          <p:spPr>
            <a:xfrm>
              <a:off x="3215390" y="3429000"/>
              <a:ext cx="23266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DB719EF7-D33F-BD92-8719-146530A76C38}"/>
              </a:ext>
            </a:extLst>
          </p:cNvPr>
          <p:cNvSpPr txBox="1"/>
          <p:nvPr/>
        </p:nvSpPr>
        <p:spPr>
          <a:xfrm>
            <a:off x="3376612" y="4246690"/>
            <a:ext cx="1950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rezultate_uniforme.csv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ADED52D-94CB-5867-D3EC-63DA68E033A0}"/>
              </a:ext>
            </a:extLst>
          </p:cNvPr>
          <p:cNvCxnSpPr/>
          <p:nvPr/>
        </p:nvCxnSpPr>
        <p:spPr>
          <a:xfrm>
            <a:off x="2548328" y="4067175"/>
            <a:ext cx="0" cy="6000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BF0326D-94E5-A027-3169-5123F953EF45}"/>
              </a:ext>
            </a:extLst>
          </p:cNvPr>
          <p:cNvCxnSpPr/>
          <p:nvPr/>
        </p:nvCxnSpPr>
        <p:spPr>
          <a:xfrm>
            <a:off x="2548328" y="4676775"/>
            <a:ext cx="35679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4773C31A-8CAC-FBC9-C3B1-725B854A87C2}"/>
              </a:ext>
            </a:extLst>
          </p:cNvPr>
          <p:cNvSpPr txBox="1"/>
          <p:nvPr/>
        </p:nvSpPr>
        <p:spPr>
          <a:xfrm>
            <a:off x="2950870" y="4471622"/>
            <a:ext cx="542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src</a:t>
            </a:r>
            <a:endParaRPr lang="en-US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0FAF258-766B-6462-0DF3-51566636BB1D}"/>
              </a:ext>
            </a:extLst>
          </p:cNvPr>
          <p:cNvGrpSpPr/>
          <p:nvPr/>
        </p:nvGrpSpPr>
        <p:grpSpPr>
          <a:xfrm>
            <a:off x="3215390" y="4820302"/>
            <a:ext cx="232660" cy="204811"/>
            <a:chOff x="3215390" y="3229749"/>
            <a:chExt cx="232660" cy="199251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87E903F-F64F-0DA3-C0DF-DB7B25CB309F}"/>
                </a:ext>
              </a:extLst>
            </p:cNvPr>
            <p:cNvCxnSpPr/>
            <p:nvPr/>
          </p:nvCxnSpPr>
          <p:spPr>
            <a:xfrm>
              <a:off x="3215390" y="3229749"/>
              <a:ext cx="0" cy="19925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E3814FC-A05A-4FDA-40F6-091D6A3CB08C}"/>
                </a:ext>
              </a:extLst>
            </p:cNvPr>
            <p:cNvCxnSpPr/>
            <p:nvPr/>
          </p:nvCxnSpPr>
          <p:spPr>
            <a:xfrm>
              <a:off x="3215390" y="3429000"/>
              <a:ext cx="23266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7947700C-E047-8D6B-E510-D98803A0959B}"/>
              </a:ext>
            </a:extLst>
          </p:cNvPr>
          <p:cNvSpPr txBox="1"/>
          <p:nvPr/>
        </p:nvSpPr>
        <p:spPr>
          <a:xfrm>
            <a:off x="3428776" y="4896386"/>
            <a:ext cx="13241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hangman.py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BDAF636-66CE-6E96-5553-16F3046144D7}"/>
              </a:ext>
            </a:extLst>
          </p:cNvPr>
          <p:cNvCxnSpPr/>
          <p:nvPr/>
        </p:nvCxnSpPr>
        <p:spPr>
          <a:xfrm>
            <a:off x="2548328" y="5351489"/>
            <a:ext cx="35679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72D2C5-BE7D-0E26-A04E-3EE53A5B6DBC}"/>
              </a:ext>
            </a:extLst>
          </p:cNvPr>
          <p:cNvCxnSpPr>
            <a:cxnSpLocks/>
          </p:cNvCxnSpPr>
          <p:nvPr/>
        </p:nvCxnSpPr>
        <p:spPr>
          <a:xfrm>
            <a:off x="2548328" y="4573941"/>
            <a:ext cx="0" cy="7775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F162338-1681-4980-9D49-415201BDF8A5}"/>
              </a:ext>
            </a:extLst>
          </p:cNvPr>
          <p:cNvSpPr txBox="1"/>
          <p:nvPr/>
        </p:nvSpPr>
        <p:spPr>
          <a:xfrm>
            <a:off x="2908950" y="5161903"/>
            <a:ext cx="71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docs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0A9CA16-5FC5-1939-AB86-00A891695B5D}"/>
              </a:ext>
            </a:extLst>
          </p:cNvPr>
          <p:cNvGrpSpPr/>
          <p:nvPr/>
        </p:nvGrpSpPr>
        <p:grpSpPr>
          <a:xfrm>
            <a:off x="3222644" y="5454606"/>
            <a:ext cx="232660" cy="204811"/>
            <a:chOff x="3215390" y="3229749"/>
            <a:chExt cx="232660" cy="199251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C06F0A5-0B5E-0BAC-4969-1BDF059D8A7D}"/>
                </a:ext>
              </a:extLst>
            </p:cNvPr>
            <p:cNvCxnSpPr/>
            <p:nvPr/>
          </p:nvCxnSpPr>
          <p:spPr>
            <a:xfrm>
              <a:off x="3215390" y="3229749"/>
              <a:ext cx="0" cy="19925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59F58D5-8931-115F-BE1B-E28D5731ADFA}"/>
                </a:ext>
              </a:extLst>
            </p:cNvPr>
            <p:cNvCxnSpPr/>
            <p:nvPr/>
          </p:nvCxnSpPr>
          <p:spPr>
            <a:xfrm>
              <a:off x="3215390" y="3429000"/>
              <a:ext cx="23266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82A9923-7324-B074-7311-47AE93E83629}"/>
              </a:ext>
            </a:extLst>
          </p:cNvPr>
          <p:cNvSpPr txBox="1"/>
          <p:nvPr/>
        </p:nvSpPr>
        <p:spPr>
          <a:xfrm>
            <a:off x="3448049" y="5498212"/>
            <a:ext cx="19783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/>
              <a:t>Proiect Hangman.pptx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80609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23E43-6EDF-BB18-C0BA-1102437EB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1DFBDC-60B9-B88A-F61D-D971B8360EA6}"/>
              </a:ext>
            </a:extLst>
          </p:cNvPr>
          <p:cNvSpPr/>
          <p:nvPr/>
        </p:nvSpPr>
        <p:spPr>
          <a:xfrm>
            <a:off x="0" y="1"/>
            <a:ext cx="809469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ED8E573E-0FB4-BAFF-2048-8E9D570B0CA6}"/>
              </a:ext>
            </a:extLst>
          </p:cNvPr>
          <p:cNvSpPr/>
          <p:nvPr/>
        </p:nvSpPr>
        <p:spPr>
          <a:xfrm>
            <a:off x="674003" y="142407"/>
            <a:ext cx="11257613" cy="6573186"/>
          </a:xfrm>
          <a:prstGeom prst="flowChartProcess">
            <a:avLst/>
          </a:prstGeom>
          <a:noFill/>
          <a:ln w="762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DEB15F5-CBE4-A3AD-4FB1-B1BBBC34A3AE}"/>
              </a:ext>
            </a:extLst>
          </p:cNvPr>
          <p:cNvCxnSpPr>
            <a:cxnSpLocks/>
          </p:cNvCxnSpPr>
          <p:nvPr/>
        </p:nvCxnSpPr>
        <p:spPr>
          <a:xfrm>
            <a:off x="10600544" y="142407"/>
            <a:ext cx="0" cy="82755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C3ADC01-7BD6-A905-49CD-E5E939E460B7}"/>
              </a:ext>
            </a:extLst>
          </p:cNvPr>
          <p:cNvSpPr txBox="1"/>
          <p:nvPr/>
        </p:nvSpPr>
        <p:spPr>
          <a:xfrm>
            <a:off x="1364105" y="779489"/>
            <a:ext cx="26871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Func</a:t>
            </a:r>
            <a:r>
              <a:rPr kumimoji="0" lang="ro-RO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ții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BE987E-0E94-7D74-D6A4-F1D8B3D1813A}"/>
              </a:ext>
            </a:extLst>
          </p:cNvPr>
          <p:cNvSpPr txBox="1"/>
          <p:nvPr/>
        </p:nvSpPr>
        <p:spPr>
          <a:xfrm>
            <a:off x="1397000" y="2273300"/>
            <a:ext cx="10120996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400" dirty="0">
                <a:latin typeface="Congenial" panose="020F0502020204030204" pitchFamily="2" charset="0"/>
              </a:rPr>
              <a:t>Funcție de returnare a indicilor pentru literele care coincid pentru cuvantul ce trebuie ghicit si țintă</a:t>
            </a:r>
            <a:r>
              <a:rPr lang="en-US" sz="2400" dirty="0">
                <a:latin typeface="Congenial" panose="020F0502020204030204" pitchFamily="2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ngenial" panose="020F0502020204030204" pitchFamily="2" charset="0"/>
              </a:rPr>
              <a:t>Func</a:t>
            </a:r>
            <a:r>
              <a:rPr lang="ro-RO" sz="2400" dirty="0">
                <a:latin typeface="Congenial" panose="020F0502020204030204" pitchFamily="2" charset="0"/>
              </a:rPr>
              <a:t>ție de validare, parcurgere secventiala a unei liste de litere in ordinea secventei sale</a:t>
            </a:r>
            <a:r>
              <a:rPr lang="en-US" sz="2400" dirty="0">
                <a:latin typeface="Congenial" panose="020F0502020204030204" pitchFamily="2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ngenial" panose="020F0502020204030204" pitchFamily="2" charset="0"/>
              </a:rPr>
              <a:t>Func</a:t>
            </a:r>
            <a:r>
              <a:rPr lang="ro-RO" sz="2400" dirty="0">
                <a:latin typeface="Congenial" panose="020F0502020204030204" pitchFamily="2" charset="0"/>
              </a:rPr>
              <a:t>ție de </a:t>
            </a:r>
            <a:r>
              <a:rPr lang="en-US" sz="2400" dirty="0">
                <a:latin typeface="Congenial" panose="020F0502020204030204" pitchFamily="2" charset="0"/>
              </a:rPr>
              <a:t>colectare</a:t>
            </a:r>
            <a:r>
              <a:rPr lang="ro-RO" sz="2400" dirty="0">
                <a:latin typeface="Congenial" panose="020F0502020204030204" pitchFamily="2" charset="0"/>
              </a:rPr>
              <a:t> a cuvintelor dintr-un dicționar care au aceeași lungime și au aceleași litere pe aceleași poziți</a:t>
            </a:r>
            <a:r>
              <a:rPr lang="en-US" sz="2400" dirty="0">
                <a:latin typeface="Congenial" panose="020F0502020204030204" pitchFamily="2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ngenial" panose="020F0502020204030204" pitchFamily="2" charset="0"/>
              </a:rPr>
              <a:t>Func</a:t>
            </a:r>
            <a:r>
              <a:rPr lang="ro-RO" sz="2400" dirty="0">
                <a:latin typeface="Congenial" panose="020F0502020204030204" pitchFamily="2" charset="0"/>
              </a:rPr>
              <a:t>ție de selectare a cuvintelor candidat</a:t>
            </a:r>
            <a:r>
              <a:rPr lang="en-US" sz="2400" dirty="0">
                <a:latin typeface="Congenial" panose="020F0502020204030204" pitchFamily="2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400" dirty="0">
                <a:latin typeface="Congenial" panose="020F0502020204030204" pitchFamily="2" charset="0"/>
              </a:rPr>
              <a:t>Funcție de restructurare a fișierului de intrare sub forma unui dicționar.</a:t>
            </a:r>
            <a:endParaRPr lang="en-US" sz="2400" dirty="0">
              <a:latin typeface="Congenial" panose="020F050202020403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ongenial" panose="020F050202020403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Congenial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223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AFE8E-738E-CE6A-0E13-0D3BD86FD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C07E78-1441-B3AB-4591-93647BE64AC1}"/>
              </a:ext>
            </a:extLst>
          </p:cNvPr>
          <p:cNvSpPr/>
          <p:nvPr/>
        </p:nvSpPr>
        <p:spPr>
          <a:xfrm>
            <a:off x="0" y="1"/>
            <a:ext cx="809469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9666F5B9-9605-701A-97A1-B40B05F05B10}"/>
              </a:ext>
            </a:extLst>
          </p:cNvPr>
          <p:cNvSpPr/>
          <p:nvPr/>
        </p:nvSpPr>
        <p:spPr>
          <a:xfrm>
            <a:off x="674003" y="142407"/>
            <a:ext cx="11257613" cy="6573186"/>
          </a:xfrm>
          <a:prstGeom prst="flowChartProcess">
            <a:avLst/>
          </a:prstGeom>
          <a:noFill/>
          <a:ln w="762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0DFBA3B-56BA-1C21-7093-3D4A58D0CD30}"/>
              </a:ext>
            </a:extLst>
          </p:cNvPr>
          <p:cNvGrpSpPr/>
          <p:nvPr/>
        </p:nvGrpSpPr>
        <p:grpSpPr>
          <a:xfrm rot="2774603">
            <a:off x="9476284" y="-6893672"/>
            <a:ext cx="2248519" cy="4287837"/>
            <a:chOff x="8301120" y="1112043"/>
            <a:chExt cx="2248519" cy="4287837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50E3194-E61F-1658-8E8E-E03326B45A22}"/>
                </a:ext>
              </a:extLst>
            </p:cNvPr>
            <p:cNvSpPr/>
            <p:nvPr/>
          </p:nvSpPr>
          <p:spPr>
            <a:xfrm>
              <a:off x="9196466" y="2831575"/>
              <a:ext cx="457825" cy="3792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9E13760-182B-4A91-E531-12109B9A1BC0}"/>
                </a:ext>
              </a:extLst>
            </p:cNvPr>
            <p:cNvGrpSpPr/>
            <p:nvPr/>
          </p:nvGrpSpPr>
          <p:grpSpPr>
            <a:xfrm>
              <a:off x="8301120" y="1112043"/>
              <a:ext cx="2248519" cy="4287837"/>
              <a:chOff x="9420694" y="969963"/>
              <a:chExt cx="2248519" cy="4287837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98C39F24-34B6-A21F-FB2F-03249EB6DE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93114" y="2807559"/>
                <a:ext cx="0" cy="1449648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52AE3578-38C1-ECEB-D854-8AAC6FF10E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99607" y="969963"/>
                <a:ext cx="0" cy="1346200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" name="Picture 9" descr="A blue face with a sad face&#10;&#10;AI-generated content may be incorrect.">
                <a:extLst>
                  <a:ext uri="{FF2B5EF4-FFF2-40B4-BE49-F238E27FC236}">
                    <a16:creationId xmlns:a16="http://schemas.microsoft.com/office/drawing/2014/main" id="{9FD86F04-8D6C-15A6-D359-EAC700C491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420694" y="1300795"/>
                <a:ext cx="2248519" cy="2248519"/>
              </a:xfrm>
              <a:prstGeom prst="rect">
                <a:avLst/>
              </a:prstGeom>
              <a:scene3d>
                <a:camera prst="orthographicFront">
                  <a:rot lat="2699983" lon="0" rev="19499999"/>
                </a:camera>
                <a:lightRig rig="threePt" dir="t"/>
              </a:scene3d>
            </p:spPr>
          </p:pic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D96A448-2544-515D-5E7D-B69963DB62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18229" y="4242216"/>
                <a:ext cx="164892" cy="101558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6E8C1876-BB32-4F5E-5E57-7F51C615363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503108" y="4242216"/>
                <a:ext cx="164892" cy="101558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356A773-6B86-7935-583B-8FDF875236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4355" y="3305980"/>
                <a:ext cx="81199" cy="638697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743CBB77-76D1-3B48-8D69-BD07F743B2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93114" y="3323327"/>
                <a:ext cx="282940" cy="658083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F357D1C-2E9B-2839-80CF-31E778690A25}"/>
              </a:ext>
            </a:extLst>
          </p:cNvPr>
          <p:cNvCxnSpPr>
            <a:cxnSpLocks/>
          </p:cNvCxnSpPr>
          <p:nvPr/>
        </p:nvCxnSpPr>
        <p:spPr>
          <a:xfrm>
            <a:off x="10600544" y="142407"/>
            <a:ext cx="0" cy="82755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DFAB754-3F40-D75A-A437-E391D5D4869A}"/>
              </a:ext>
            </a:extLst>
          </p:cNvPr>
          <p:cNvSpPr txBox="1"/>
          <p:nvPr/>
        </p:nvSpPr>
        <p:spPr>
          <a:xfrm>
            <a:off x="3038474" y="1438005"/>
            <a:ext cx="611505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Rezultate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0F640E-9C5B-A938-6265-FA377D509CB7}"/>
              </a:ext>
            </a:extLst>
          </p:cNvPr>
          <p:cNvSpPr txBox="1"/>
          <p:nvPr/>
        </p:nvSpPr>
        <p:spPr>
          <a:xfrm>
            <a:off x="3397493" y="3168858"/>
            <a:ext cx="539701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800" dirty="0">
                <a:latin typeface="Congenial" panose="020F0502020204030204" pitchFamily="2" charset="0"/>
              </a:rPr>
              <a:t>Pentru un dicționar care au cuvintele de ghicit în ordinea alfabetică se ghicesc 100 de cuvinte în 1733.</a:t>
            </a:r>
            <a:endParaRPr lang="en-US" sz="2800" dirty="0">
              <a:latin typeface="Congenial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497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AAFDD-C60F-B686-74A9-CABD8F70D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ADF35-7847-DFB5-BA34-1EA592C4C40E}"/>
              </a:ext>
            </a:extLst>
          </p:cNvPr>
          <p:cNvSpPr/>
          <p:nvPr/>
        </p:nvSpPr>
        <p:spPr>
          <a:xfrm>
            <a:off x="0" y="1"/>
            <a:ext cx="809469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450845A-DB8F-8724-BADC-234147347A8C}"/>
              </a:ext>
            </a:extLst>
          </p:cNvPr>
          <p:cNvGrpSpPr/>
          <p:nvPr/>
        </p:nvGrpSpPr>
        <p:grpSpPr>
          <a:xfrm rot="2774603">
            <a:off x="9609096" y="-6754964"/>
            <a:ext cx="2248519" cy="4287837"/>
            <a:chOff x="8493160" y="1112043"/>
            <a:chExt cx="2248519" cy="4287837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0E4AA30-DC8B-52E7-0FCF-DE067803644A}"/>
                </a:ext>
              </a:extLst>
            </p:cNvPr>
            <p:cNvSpPr/>
            <p:nvPr/>
          </p:nvSpPr>
          <p:spPr>
            <a:xfrm rot="1884527">
              <a:off x="9183268" y="2971919"/>
              <a:ext cx="457825" cy="3792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A5802EC-F132-598D-A4BA-9F58274E1126}"/>
                </a:ext>
              </a:extLst>
            </p:cNvPr>
            <p:cNvGrpSpPr/>
            <p:nvPr/>
          </p:nvGrpSpPr>
          <p:grpSpPr>
            <a:xfrm>
              <a:off x="8493160" y="1112043"/>
              <a:ext cx="2248519" cy="4287837"/>
              <a:chOff x="9612734" y="969963"/>
              <a:chExt cx="2248519" cy="4287837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EF2E29EA-1E5E-AA0B-AA0D-2494435892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93114" y="2807559"/>
                <a:ext cx="0" cy="1449648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8DECB4A6-3948-8FF0-183C-1FAFD45854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99607" y="969963"/>
                <a:ext cx="0" cy="1346200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" name="Picture 9" descr="A blue face with a sad face&#10;&#10;AI-generated content may be incorrect.">
                <a:extLst>
                  <a:ext uri="{FF2B5EF4-FFF2-40B4-BE49-F238E27FC236}">
                    <a16:creationId xmlns:a16="http://schemas.microsoft.com/office/drawing/2014/main" id="{4330FB66-4F19-15FB-0A7E-784FBC1538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12734" y="1570000"/>
                <a:ext cx="2248519" cy="2248519"/>
              </a:xfrm>
              <a:prstGeom prst="rect">
                <a:avLst/>
              </a:prstGeom>
              <a:scene3d>
                <a:camera prst="orthographicFront">
                  <a:rot lat="2699983" lon="0" rev="19499999"/>
                </a:camera>
                <a:lightRig rig="threePt" dir="t"/>
              </a:scene3d>
            </p:spPr>
          </p:pic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2A46EA71-793B-383E-F793-7C6D6DE8CC9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18229" y="4242216"/>
                <a:ext cx="164892" cy="101558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4FE6E04-4DA9-E6F4-95DC-AEC5B7940E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503108" y="4242216"/>
                <a:ext cx="164892" cy="101558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26E475F6-977F-814B-325B-5E1FE6A03D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4355" y="3305980"/>
                <a:ext cx="81199" cy="638697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8837CB13-B7FE-7AE9-79A4-0D69EDE29D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93114" y="3323327"/>
                <a:ext cx="282940" cy="658083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28D4B0D-101F-0954-6E49-56C6685DC05C}"/>
              </a:ext>
            </a:extLst>
          </p:cNvPr>
          <p:cNvGrpSpPr/>
          <p:nvPr/>
        </p:nvGrpSpPr>
        <p:grpSpPr>
          <a:xfrm>
            <a:off x="4704735" y="3095933"/>
            <a:ext cx="2782530" cy="666133"/>
            <a:chOff x="3716594" y="2802194"/>
            <a:chExt cx="2782530" cy="666133"/>
          </a:xfrm>
        </p:grpSpPr>
        <p:sp>
          <p:nvSpPr>
            <p:cNvPr id="2" name="Flowchart: Process 1">
              <a:extLst>
                <a:ext uri="{FF2B5EF4-FFF2-40B4-BE49-F238E27FC236}">
                  <a16:creationId xmlns:a16="http://schemas.microsoft.com/office/drawing/2014/main" id="{72CA884A-616F-0CAA-3CD5-74C70E6F0AE1}"/>
                </a:ext>
              </a:extLst>
            </p:cNvPr>
            <p:cNvSpPr/>
            <p:nvPr/>
          </p:nvSpPr>
          <p:spPr>
            <a:xfrm>
              <a:off x="3716594" y="2802194"/>
              <a:ext cx="560438" cy="661218"/>
            </a:xfrm>
            <a:prstGeom prst="flowChartProcess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Flowchart: Process 2">
              <a:extLst>
                <a:ext uri="{FF2B5EF4-FFF2-40B4-BE49-F238E27FC236}">
                  <a16:creationId xmlns:a16="http://schemas.microsoft.com/office/drawing/2014/main" id="{9483E28C-D747-039B-6E6E-2F4A5977F766}"/>
                </a:ext>
              </a:extLst>
            </p:cNvPr>
            <p:cNvSpPr/>
            <p:nvPr/>
          </p:nvSpPr>
          <p:spPr>
            <a:xfrm>
              <a:off x="4812890" y="2836606"/>
              <a:ext cx="560438" cy="626806"/>
            </a:xfrm>
            <a:prstGeom prst="flowChartProcess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lowchart: Process 4">
              <a:extLst>
                <a:ext uri="{FF2B5EF4-FFF2-40B4-BE49-F238E27FC236}">
                  <a16:creationId xmlns:a16="http://schemas.microsoft.com/office/drawing/2014/main" id="{E402CE43-BB58-2620-3610-B84CD6CF85EF}"/>
                </a:ext>
              </a:extLst>
            </p:cNvPr>
            <p:cNvSpPr/>
            <p:nvPr/>
          </p:nvSpPr>
          <p:spPr>
            <a:xfrm>
              <a:off x="5938686" y="2841521"/>
              <a:ext cx="560438" cy="626806"/>
            </a:xfrm>
            <a:prstGeom prst="flowChartProcess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EEA5E461-CDCF-0219-D919-E14CF26ED4A1}"/>
              </a:ext>
            </a:extLst>
          </p:cNvPr>
          <p:cNvSpPr txBox="1"/>
          <p:nvPr/>
        </p:nvSpPr>
        <p:spPr>
          <a:xfrm>
            <a:off x="-5734373" y="1987937"/>
            <a:ext cx="613910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6600" dirty="0"/>
              <a:t>MULȚUMESC!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83431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00F47-CB45-8482-45D6-DBD4F568C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8498C3-A7E4-3CF1-5819-58EB0AF933F4}"/>
              </a:ext>
            </a:extLst>
          </p:cNvPr>
          <p:cNvSpPr/>
          <p:nvPr/>
        </p:nvSpPr>
        <p:spPr>
          <a:xfrm>
            <a:off x="0" y="1"/>
            <a:ext cx="809469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E09F904-C0A6-C236-5389-47FE123A8625}"/>
              </a:ext>
            </a:extLst>
          </p:cNvPr>
          <p:cNvGrpSpPr/>
          <p:nvPr/>
        </p:nvGrpSpPr>
        <p:grpSpPr>
          <a:xfrm rot="4786714">
            <a:off x="8840088" y="3955395"/>
            <a:ext cx="2248519" cy="3796551"/>
            <a:chOff x="8289319" y="1603329"/>
            <a:chExt cx="2248519" cy="3796551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FD20B0D-6C51-0EC9-9F87-4243BB8F3D6E}"/>
                </a:ext>
              </a:extLst>
            </p:cNvPr>
            <p:cNvSpPr/>
            <p:nvPr/>
          </p:nvSpPr>
          <p:spPr>
            <a:xfrm rot="457755">
              <a:off x="9190637" y="2969603"/>
              <a:ext cx="457825" cy="3792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BE93F6D-2541-DDE7-5F55-ACA041661937}"/>
                </a:ext>
              </a:extLst>
            </p:cNvPr>
            <p:cNvGrpSpPr/>
            <p:nvPr/>
          </p:nvGrpSpPr>
          <p:grpSpPr>
            <a:xfrm>
              <a:off x="8289319" y="1603329"/>
              <a:ext cx="2248519" cy="3796551"/>
              <a:chOff x="9408893" y="1461249"/>
              <a:chExt cx="2248519" cy="3796551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113DB7C3-DE8F-3CA1-D91F-5901043768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93114" y="2807559"/>
                <a:ext cx="0" cy="1449648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7DA16E8-DBCC-BE90-07E2-4D195B8E3030}"/>
                  </a:ext>
                </a:extLst>
              </p:cNvPr>
              <p:cNvCxnSpPr>
                <a:cxnSpLocks/>
              </p:cNvCxnSpPr>
              <p:nvPr/>
            </p:nvCxnSpPr>
            <p:spPr>
              <a:xfrm rot="16813286" flipH="1" flipV="1">
                <a:off x="10284240" y="1856938"/>
                <a:ext cx="864801" cy="8190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" name="Picture 10" descr="A blue face with a sad face&#10;&#10;AI-generated content may be incorrect.">
                <a:extLst>
                  <a:ext uri="{FF2B5EF4-FFF2-40B4-BE49-F238E27FC236}">
                    <a16:creationId xmlns:a16="http://schemas.microsoft.com/office/drawing/2014/main" id="{179D8692-DDB8-B3D2-3271-7D139A6E91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408893" y="1461249"/>
                <a:ext cx="2248519" cy="2248519"/>
              </a:xfrm>
              <a:prstGeom prst="rect">
                <a:avLst/>
              </a:prstGeom>
              <a:scene3d>
                <a:camera prst="orthographicFront">
                  <a:rot lat="2699983" lon="0" rev="19499999"/>
                </a:camera>
                <a:lightRig rig="threePt" dir="t"/>
              </a:scene3d>
            </p:spPr>
          </p:pic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D9E0EED-9808-0641-17D8-4B1E3DECEA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18229" y="4242216"/>
                <a:ext cx="164892" cy="101558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4ADBDA63-7465-7D07-DF4E-26643792EE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503108" y="4242216"/>
                <a:ext cx="164892" cy="101558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3562D67-97BA-ACDC-4013-56F1275CFB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4355" y="3305980"/>
                <a:ext cx="81199" cy="638697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77ACB387-1CDA-E223-70C4-8889B57F3D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93114" y="3323327"/>
                <a:ext cx="282940" cy="658083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B042D977-8CDA-C86B-3B69-59E0CF154384}"/>
              </a:ext>
            </a:extLst>
          </p:cNvPr>
          <p:cNvSpPr txBox="1"/>
          <p:nvPr/>
        </p:nvSpPr>
        <p:spPr>
          <a:xfrm>
            <a:off x="2504877" y="2321004"/>
            <a:ext cx="610035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MULȚUMESC!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0133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212</Words>
  <Application>Microsoft Office PowerPoint</Application>
  <PresentationFormat>Widescreen</PresentationFormat>
  <Paragraphs>35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Congenial</vt:lpstr>
      <vt:lpstr>Office Theme</vt:lpstr>
      <vt:lpstr>Proiect Hangman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Antoniu Podariu</dc:creator>
  <cp:lastModifiedBy>Stefan Antoniu Podariu</cp:lastModifiedBy>
  <cp:revision>4</cp:revision>
  <dcterms:created xsi:type="dcterms:W3CDTF">2025-10-27T12:57:08Z</dcterms:created>
  <dcterms:modified xsi:type="dcterms:W3CDTF">2025-11-03T14:03:44Z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2025-10-27T20:01:19Z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985d2165-15f8-4588-8824-e2ca03d63c10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